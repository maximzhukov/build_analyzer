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9" r:id="rId7"/>
    <p:sldId id="294" r:id="rId8"/>
    <p:sldId id="293" r:id="rId9"/>
    <p:sldId id="268" r:id="rId10"/>
    <p:sldId id="297" r:id="rId11"/>
    <p:sldId id="299" r:id="rId12"/>
    <p:sldId id="300" r:id="rId13"/>
    <p:sldId id="303" r:id="rId14"/>
    <p:sldId id="301" r:id="rId15"/>
    <p:sldId id="304" r:id="rId1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4"/>
    <p:restoredTop sz="94700"/>
  </p:normalViewPr>
  <p:slideViewPr>
    <p:cSldViewPr snapToGrid="0" showGuides="1">
      <p:cViewPr>
        <p:scale>
          <a:sx n="143" d="100"/>
          <a:sy n="143" d="100"/>
        </p:scale>
        <p:origin x="160" y="-32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574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4885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6296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584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890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358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982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561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en-US" sz="4800"/>
              <a:t>Null Pointer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en-US"/>
              <a:t>7. </a:t>
            </a:r>
            <a:r>
              <a:rPr lang="ru-RU" b="0" i="0">
                <a:solidFill>
                  <a:srgbClr val="FFFFFF"/>
                </a:solidFill>
                <a:effectLst/>
                <a:latin typeface="TTFirs"/>
              </a:rPr>
              <a:t>Интеллектуальная система мониторинга строительной площадки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24729" y="4310567"/>
            <a:ext cx="4945565" cy="20457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900">
                <a:solidFill>
                  <a:schemeClr val="tx1"/>
                </a:solidFill>
              </a:rPr>
              <a:t>1</a:t>
            </a:r>
            <a:r>
              <a:rPr lang="en-US" sz="900">
                <a:solidFill>
                  <a:schemeClr val="tx1"/>
                </a:solidFill>
              </a:rPr>
              <a:t>. </a:t>
            </a:r>
            <a:r>
              <a:rPr lang="ru-RU" sz="900">
                <a:solidFill>
                  <a:schemeClr val="tx1"/>
                </a:solidFill>
              </a:rPr>
              <a:t>Автоматический </a:t>
            </a:r>
            <a:r>
              <a:rPr lang="en" sz="900">
                <a:solidFill>
                  <a:schemeClr val="tx1"/>
                </a:solidFill>
              </a:rPr>
              <a:t>NLP-</a:t>
            </a:r>
            <a:r>
              <a:rPr lang="ru-RU" sz="900">
                <a:solidFill>
                  <a:schemeClr val="tx1"/>
                </a:solidFill>
              </a:rPr>
              <a:t>маппинг: Пользователь загружает обычный план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ru-RU" sz="900">
                <a:solidFill>
                  <a:schemeClr val="tx1"/>
                </a:solidFill>
              </a:rPr>
              <a:t>работ, а система с помощью семантического анализа сама «понимает» текст и привязывает строительные этапы к нужным алгоритмам компьютерного зрения.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900">
                <a:solidFill>
                  <a:schemeClr val="tx1"/>
                </a:solidFill>
              </a:rPr>
              <a:t>2. </a:t>
            </a:r>
            <a:r>
              <a:rPr lang="ru-RU" sz="900">
                <a:solidFill>
                  <a:schemeClr val="tx1"/>
                </a:solidFill>
              </a:rPr>
              <a:t>Легковесная </a:t>
            </a:r>
            <a:r>
              <a:rPr lang="en" sz="900">
                <a:solidFill>
                  <a:schemeClr val="tx1"/>
                </a:solidFill>
              </a:rPr>
              <a:t>Edge-</a:t>
            </a:r>
            <a:r>
              <a:rPr lang="ru-RU" sz="900">
                <a:solidFill>
                  <a:schemeClr val="tx1"/>
                </a:solidFill>
              </a:rPr>
              <a:t>архитектура: Видеопоток не перегружает сеть. Нейросеть обрабатывает кадры локально на объекте, отправляя на бэкенд только легкую </a:t>
            </a:r>
            <a:r>
              <a:rPr lang="en" sz="900">
                <a:solidFill>
                  <a:schemeClr val="tx1"/>
                </a:solidFill>
              </a:rPr>
              <a:t>JSON-</a:t>
            </a:r>
            <a:r>
              <a:rPr lang="ru-RU" sz="900">
                <a:solidFill>
                  <a:schemeClr val="tx1"/>
                </a:solidFill>
              </a:rPr>
              <a:t>телеметрию, что критически важно при нестабильном интернете на стройке.</a:t>
            </a:r>
            <a:r>
              <a:rPr lang="en-US" sz="90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900">
                <a:solidFill>
                  <a:schemeClr val="tx1"/>
                </a:solidFill>
              </a:rPr>
              <a:t>3. </a:t>
            </a:r>
            <a:r>
              <a:rPr lang="ru-RU" sz="900">
                <a:solidFill>
                  <a:schemeClr val="tx1"/>
                </a:solidFill>
              </a:rPr>
              <a:t>«Из пикселей в кубометры»</a:t>
            </a:r>
            <a:r>
              <a:rPr lang="en" sz="900">
                <a:solidFill>
                  <a:schemeClr val="tx1"/>
                </a:solidFill>
              </a:rPr>
              <a:t>: </a:t>
            </a:r>
            <a:r>
              <a:rPr lang="ru-RU" sz="900">
                <a:solidFill>
                  <a:schemeClr val="tx1"/>
                </a:solidFill>
              </a:rPr>
              <a:t>Полный отказ от ручного заполнения журналов работ. Платформа самостоятельно строит динамический график, рассчитывает точный прогноз завершения этапа </a:t>
            </a:r>
            <a:r>
              <a:rPr lang="en" sz="900">
                <a:solidFill>
                  <a:schemeClr val="tx1"/>
                </a:solidFill>
              </a:rPr>
              <a:t> </a:t>
            </a:r>
            <a:r>
              <a:rPr lang="ru-RU" sz="900">
                <a:solidFill>
                  <a:schemeClr val="tx1"/>
                </a:solidFill>
              </a:rPr>
              <a:t>и генерирует наглядные таймлапс-видео за прошедшую смену.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endParaRPr lang="ru-RU" sz="900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Жуков Максим Александрович</a:t>
            </a:r>
            <a:r>
              <a:rPr lang="en-US">
                <a:solidFill>
                  <a:schemeClr val="tx1"/>
                </a:solidFill>
              </a:rPr>
              <a:t>,</a:t>
            </a:r>
            <a:r>
              <a:rPr lang="ru-RU">
                <a:solidFill>
                  <a:schemeClr val="tx1"/>
                </a:solidFill>
              </a:rPr>
              <a:t> инженер</a:t>
            </a:r>
            <a:r>
              <a:rPr lang="en-US">
                <a:solidFill>
                  <a:schemeClr val="tx1"/>
                </a:solidFill>
              </a:rPr>
              <a:t>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 2 человека (Жуков Максим Александрович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Попова Оксана Александровна)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Москва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4089835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Команда «</a:t>
            </a:r>
            <a:r>
              <a:rPr lang="en-US" sz="2400">
                <a:solidFill>
                  <a:schemeClr val="accent5"/>
                </a:solidFill>
                <a:latin typeface="Montserrat"/>
              </a:rPr>
              <a:t>Null Pointer</a:t>
            </a:r>
            <a:r>
              <a:rPr lang="ru-RU" sz="2400">
                <a:solidFill>
                  <a:schemeClr val="accent5"/>
                </a:solidFill>
                <a:latin typeface="Montserrat"/>
              </a:rPr>
              <a:t>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85470" y="3872377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08027" y="3976235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6659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900">
                <a:solidFill>
                  <a:schemeClr val="tx1"/>
                </a:solidFill>
              </a:rPr>
              <a:t>Суть данного решения в построении  </a:t>
            </a:r>
            <a:r>
              <a:rPr lang="en" sz="900">
                <a:solidFill>
                  <a:schemeClr val="tx1"/>
                </a:solidFill>
              </a:rPr>
              <a:t>End-to-End </a:t>
            </a:r>
            <a:r>
              <a:rPr lang="ru-RU" sz="900">
                <a:solidFill>
                  <a:schemeClr val="tx1"/>
                </a:solidFill>
              </a:rPr>
              <a:t>платформы видеоаналитики, которая автоматически связывает видеопоток со стройплощадки с календарным планом-графиком. Система непрерывно распознает технику</a:t>
            </a:r>
            <a:r>
              <a:rPr lang="en-US" sz="900">
                <a:solidFill>
                  <a:schemeClr val="tx1"/>
                </a:solidFill>
              </a:rPr>
              <a:t>,</a:t>
            </a:r>
            <a:r>
              <a:rPr lang="ru-RU" sz="900">
                <a:solidFill>
                  <a:schemeClr val="tx1"/>
                </a:solidFill>
              </a:rPr>
              <a:t> переводит детекции в физические объемы работ и в реальном времени обновляет диаграмму статистику, формируя объективные отчеты и сигнализируя об отставаниях.</a:t>
            </a:r>
            <a:endParaRPr sz="900"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21718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389470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Фронтенд</a:t>
            </a:r>
            <a:r>
              <a:rPr lang="en-US" sz="1200">
                <a:solidFill>
                  <a:schemeClr val="tx1"/>
                </a:solidFill>
              </a:rPr>
              <a:t>, </a:t>
            </a:r>
            <a:r>
              <a:rPr lang="ru-RU" sz="1200">
                <a:solidFill>
                  <a:schemeClr val="tx1"/>
                </a:solidFill>
              </a:rPr>
              <a:t>поиск датасетов</a:t>
            </a:r>
            <a:r>
              <a:rPr lang="en-US" sz="1200">
                <a:solidFill>
                  <a:schemeClr val="tx1"/>
                </a:solidFill>
              </a:rPr>
              <a:t>, </a:t>
            </a:r>
            <a:r>
              <a:rPr lang="ru-RU" sz="1200">
                <a:solidFill>
                  <a:schemeClr val="tx1"/>
                </a:solidFill>
              </a:rPr>
              <a:t>обучение модели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 sz="1200">
                <a:solidFill>
                  <a:schemeClr val="tx1"/>
                </a:solidFill>
              </a:rPr>
              <a:t>Tg @Popova_Oxana</a:t>
            </a:r>
            <a:endParaRPr lang="en" sz="1200"/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38946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Попова Оксана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911868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31E838-B911-917E-8509-90CCC3FB10B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9" b="5899"/>
          <a:stretch>
            <a:fillRect/>
          </a:stretch>
        </p:blipFill>
        <p:spPr bwMode="auto">
          <a:xfrm>
            <a:off x="4146550" y="1816100"/>
            <a:ext cx="1722438" cy="1552575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C8CA1A-525C-6FA5-BC2F-07BF3303906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7" b="10927"/>
          <a:stretch>
            <a:fillRect/>
          </a:stretch>
        </p:blipFill>
        <p:spPr bwMode="auto">
          <a:xfrm>
            <a:off x="6451600" y="1827213"/>
            <a:ext cx="1722438" cy="1541462"/>
          </a:xfr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en-US">
                <a:latin typeface="Montserrat"/>
              </a:rPr>
              <a:t>Null Pointer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084152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Бэкенд</a:t>
            </a:r>
            <a:r>
              <a:rPr lang="en-US" sz="1200">
                <a:solidFill>
                  <a:schemeClr val="tx1"/>
                </a:solidFill>
              </a:rPr>
              <a:t>, </a:t>
            </a:r>
            <a:r>
              <a:rPr lang="ru-RU" sz="1200">
                <a:solidFill>
                  <a:schemeClr val="tx1"/>
                </a:solidFill>
              </a:rPr>
              <a:t>архитектура</a:t>
            </a:r>
            <a:endParaRPr lang="en-US" sz="1200">
              <a:solidFill>
                <a:schemeClr val="tx1"/>
              </a:solidFill>
            </a:endParaRP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Tg @mazhukov</a:t>
            </a:r>
            <a:endParaRPr lang="ru-RU" sz="1200">
              <a:solidFill>
                <a:schemeClr val="tx1"/>
              </a:solidFill>
            </a:endParaRP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Huawei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408415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Максим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>
                <a:solidFill>
                  <a:schemeClr val="accent5"/>
                </a:solidFill>
              </a:rPr>
              <a:t>Жуков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en-US">
                <a:latin typeface="Montserrat"/>
              </a:rPr>
              <a:t>Null Pointer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Мы являемся братом и сетрой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учавствуем в хакатонах не впервые</a:t>
            </a:r>
            <a:endParaRPr lang="ru-RU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Из основных сложностей хочется отметить поиск лучшей архитектуры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которая хорошо масштабируется и ложиться на весь пайплайн. Так же было важно обучить модель с высокой точной определять объекты, так как от этого зависит качество работы сервиса</a:t>
            </a:r>
            <a:endParaRPr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Анализ строительства это достаточно новая сфера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окруженная многими тонкостями и интересными задачами </a:t>
            </a:r>
            <a:endParaRPr lang="ru-RU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Локальная обработка видеопотока на объекте. На сервер передается только легковесная </a:t>
            </a:r>
            <a:r>
              <a:rPr lang="en" sz="1400">
                <a:solidFill>
                  <a:schemeClr val="tx1"/>
                </a:solidFill>
              </a:rPr>
              <a:t>JSON-</a:t>
            </a:r>
            <a:r>
              <a:rPr lang="ru-RU" sz="1400">
                <a:solidFill>
                  <a:schemeClr val="tx1"/>
                </a:solidFill>
              </a:rPr>
              <a:t>телеметрия детекций, что экономит трафик и снижает нагрузку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Модуль обработки естественного языка автоматически парсит загруженный план-график и связывает текстовые задачи с алгоритмами компьютерного зрения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Микросервисная архитектура. Сервер на лету переводит детекции в объемы работ, а дашборд визуализирует динамический график прироста, рассчитывает прогнозы</a:t>
            </a:r>
            <a:r>
              <a:rPr lang="en" sz="1400">
                <a:solidFill>
                  <a:schemeClr val="tx1"/>
                </a:solidFill>
              </a:rPr>
              <a:t> </a:t>
            </a:r>
            <a:r>
              <a:rPr lang="ru-RU" sz="1400">
                <a:solidFill>
                  <a:schemeClr val="tx1"/>
                </a:solidFill>
              </a:rPr>
              <a:t>и генерирует таймлапсы.</a:t>
            </a:r>
          </a:p>
          <a:p>
            <a:pPr>
              <a:defRPr/>
            </a:pP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Форматы внедрения и монетизации: Облачный </a:t>
            </a:r>
            <a:r>
              <a:rPr lang="en" sz="1400">
                <a:solidFill>
                  <a:schemeClr val="tx1"/>
                </a:solidFill>
              </a:rPr>
              <a:t>B2B SaaS (</a:t>
            </a:r>
            <a:r>
              <a:rPr lang="ru-RU" sz="1400">
                <a:solidFill>
                  <a:schemeClr val="tx1"/>
                </a:solidFill>
              </a:rPr>
              <a:t>по подписке для средних подрядчиков по </a:t>
            </a:r>
            <a:r>
              <a:rPr lang="en" sz="1400">
                <a:solidFill>
                  <a:schemeClr val="tx1"/>
                </a:solidFill>
              </a:rPr>
              <a:t>RTSP-</a:t>
            </a:r>
            <a:r>
              <a:rPr lang="ru-RU" sz="1400">
                <a:solidFill>
                  <a:schemeClr val="tx1"/>
                </a:solidFill>
              </a:rPr>
              <a:t>ссылке) и </a:t>
            </a:r>
            <a:r>
              <a:rPr lang="en" sz="1400">
                <a:solidFill>
                  <a:schemeClr val="tx1"/>
                </a:solidFill>
              </a:rPr>
              <a:t>On-Premise </a:t>
            </a:r>
            <a:r>
              <a:rPr lang="ru-RU" sz="1400">
                <a:solidFill>
                  <a:schemeClr val="tx1"/>
                </a:solidFill>
              </a:rPr>
              <a:t>коробка (развертывание в закрытом контуре безопасности крупных девелоперов)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Интеграция с </a:t>
            </a:r>
            <a:r>
              <a:rPr lang="en" sz="1400">
                <a:solidFill>
                  <a:schemeClr val="tx1"/>
                </a:solidFill>
              </a:rPr>
              <a:t>Enterprise-</a:t>
            </a:r>
            <a:r>
              <a:rPr lang="ru-RU" sz="1400">
                <a:solidFill>
                  <a:schemeClr val="tx1"/>
                </a:solidFill>
              </a:rPr>
              <a:t>системами: Разработка коннекторов к 1С:УСО и </a:t>
            </a:r>
            <a:r>
              <a:rPr lang="en" sz="1400">
                <a:solidFill>
                  <a:schemeClr val="tx1"/>
                </a:solidFill>
              </a:rPr>
              <a:t>MS Project </a:t>
            </a:r>
            <a:r>
              <a:rPr lang="ru-RU" sz="1400">
                <a:solidFill>
                  <a:schemeClr val="tx1"/>
                </a:solidFill>
              </a:rPr>
              <a:t>для автоматического формирования актов выполненных работ (КС-2) и трансляция факта с камер на 4</a:t>
            </a:r>
            <a:r>
              <a:rPr lang="en" sz="1400">
                <a:solidFill>
                  <a:schemeClr val="tx1"/>
                </a:solidFill>
              </a:rPr>
              <a:t>D BIM-</a:t>
            </a:r>
            <a:r>
              <a:rPr lang="ru-RU" sz="1400">
                <a:solidFill>
                  <a:schemeClr val="tx1"/>
                </a:solidFill>
              </a:rPr>
              <a:t>модель здания.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Векторы развития продукта: Расширение ИИ-моделей на контроль промбезопасности трекинг простоев бригад и внедрение сквозного трекинга машин между камерами для исключения двойного счета.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6791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Концепция и архитектура</a:t>
            </a:r>
          </a:p>
        </p:txBody>
      </p:sp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Суть решения:</a:t>
            </a:r>
            <a:r>
              <a:rPr lang="ru-RU">
                <a:solidFill>
                  <a:schemeClr val="tx1"/>
                </a:solidFill>
              </a:rPr>
              <a:t> Платформа видеоаналитики, устраняющая разрыв между графиком работ и реальной стройплощадкой. Авто-расчет объемов по видео и синхронизация факта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с текущим планом работ.</a:t>
            </a:r>
          </a:p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Компоненты</a:t>
            </a:r>
            <a:endParaRPr 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" b="1">
                <a:solidFill>
                  <a:schemeClr val="tx1"/>
                </a:solidFill>
              </a:rPr>
              <a:t>Edge-</a:t>
            </a:r>
            <a:r>
              <a:rPr lang="ru-RU" b="1">
                <a:solidFill>
                  <a:schemeClr val="tx1"/>
                </a:solidFill>
              </a:rPr>
              <a:t>клиент:</a:t>
            </a:r>
            <a:r>
              <a:rPr lang="ru-RU">
                <a:solidFill>
                  <a:schemeClr val="tx1"/>
                </a:solidFill>
              </a:rPr>
              <a:t> Локальная ИИ-обработка видео, отправка легкой </a:t>
            </a:r>
            <a:r>
              <a:rPr lang="en">
                <a:solidFill>
                  <a:schemeClr val="tx1"/>
                </a:solidFill>
              </a:rPr>
              <a:t>JSON-</a:t>
            </a:r>
            <a:r>
              <a:rPr lang="ru-RU">
                <a:solidFill>
                  <a:schemeClr val="tx1"/>
                </a:solidFill>
              </a:rPr>
              <a:t>телеметрии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ru-RU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" b="1">
                <a:solidFill>
                  <a:schemeClr val="tx1"/>
                </a:solidFill>
              </a:rPr>
              <a:t>NLP-</a:t>
            </a:r>
            <a:r>
              <a:rPr lang="ru-RU" b="1">
                <a:solidFill>
                  <a:schemeClr val="tx1"/>
                </a:solidFill>
              </a:rPr>
              <a:t>маппинг:</a:t>
            </a:r>
            <a:r>
              <a:rPr lang="ru-RU">
                <a:solidFill>
                  <a:schemeClr val="tx1"/>
                </a:solidFill>
              </a:rPr>
              <a:t> Интеллектуальный парсер, автоматически связывающий строки плана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работ с алгоритмами машинного зрения.</a:t>
            </a:r>
          </a:p>
          <a:p>
            <a:pPr marL="342900" indent="-342900">
              <a:buFont typeface="+mj-lt"/>
              <a:buAutoNum type="arabicPeriod"/>
            </a:pPr>
            <a:r>
              <a:rPr lang="en" b="1">
                <a:solidFill>
                  <a:schemeClr val="tx1"/>
                </a:solidFill>
              </a:rPr>
              <a:t>Frontend:</a:t>
            </a:r>
            <a:r>
              <a:rPr lang="en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Интерактивный дашборд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описывающий реальную картину происходящего на объекте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8E02D1-A7A0-2715-C9FE-10E2C78B3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568" y="1148672"/>
            <a:ext cx="4657900" cy="5207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80385" y="286871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</a:pPr>
            <a:r>
              <a:rPr lang="en" b="1">
                <a:solidFill>
                  <a:schemeClr val="tx1"/>
                </a:solidFill>
              </a:rPr>
              <a:t>Computer Vision (YOLO11): </a:t>
            </a:r>
            <a:r>
              <a:rPr lang="ru-RU">
                <a:solidFill>
                  <a:schemeClr val="tx1"/>
                </a:solidFill>
              </a:rPr>
              <a:t>Баланс </a:t>
            </a:r>
            <a:r>
              <a:rPr lang="en">
                <a:solidFill>
                  <a:schemeClr val="tx1"/>
                </a:solidFill>
              </a:rPr>
              <a:t>FPS </a:t>
            </a:r>
            <a:r>
              <a:rPr lang="ru-RU">
                <a:solidFill>
                  <a:schemeClr val="tx1"/>
                </a:solidFill>
              </a:rPr>
              <a:t>и точности. Работает в </a:t>
            </a:r>
            <a:r>
              <a:rPr lang="en">
                <a:solidFill>
                  <a:schemeClr val="tx1"/>
                </a:solidFill>
              </a:rPr>
              <a:t>real-time </a:t>
            </a:r>
            <a:r>
              <a:rPr lang="ru-RU">
                <a:solidFill>
                  <a:schemeClr val="tx1"/>
                </a:solidFill>
              </a:rPr>
              <a:t>даже на слабом оборудовании.</a:t>
            </a: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" b="1">
                <a:solidFill>
                  <a:schemeClr val="tx1"/>
                </a:solidFill>
              </a:rPr>
              <a:t>Backend (FastAPI): </a:t>
            </a:r>
            <a:r>
              <a:rPr lang="ru-RU">
                <a:solidFill>
                  <a:schemeClr val="tx1"/>
                </a:solidFill>
              </a:rPr>
              <a:t>Асинхронная архитектура для выдерживания сотен запросов телеметрии в секунду.</a:t>
            </a: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" b="1">
                <a:solidFill>
                  <a:schemeClr val="tx1"/>
                </a:solidFill>
              </a:rPr>
              <a:t>Frontend (Streamlit): </a:t>
            </a:r>
            <a:r>
              <a:rPr lang="ru-RU">
                <a:solidFill>
                  <a:schemeClr val="tx1"/>
                </a:solidFill>
              </a:rPr>
              <a:t>Быстрая реализация </a:t>
            </a:r>
            <a:r>
              <a:rPr lang="en">
                <a:solidFill>
                  <a:schemeClr val="tx1"/>
                </a:solidFill>
              </a:rPr>
              <a:t>Enterprise-</a:t>
            </a:r>
            <a:r>
              <a:rPr lang="ru-RU">
                <a:solidFill>
                  <a:schemeClr val="tx1"/>
                </a:solidFill>
              </a:rPr>
              <a:t>интерфейса и кастомных интерактивных графиков.</a:t>
            </a: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База данных (</a:t>
            </a:r>
            <a:r>
              <a:rPr lang="en" b="1">
                <a:solidFill>
                  <a:schemeClr val="tx1"/>
                </a:solidFill>
              </a:rPr>
              <a:t>PostgreSQL):</a:t>
            </a:r>
            <a:r>
              <a:rPr lang="en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Транзакционная надежность для связки проектов, этапов и непрерывной телеметрии.</a:t>
            </a: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7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Стек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92377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ru-RU" sz="1400" b="1">
                <a:solidFill>
                  <a:schemeClr val="tx1"/>
                </a:solidFill>
              </a:rPr>
              <a:t>Семантический анализ: </a:t>
            </a:r>
            <a:r>
              <a:rPr lang="ru-RU" sz="1400">
                <a:solidFill>
                  <a:schemeClr val="tx1"/>
                </a:solidFill>
              </a:rPr>
              <a:t>легкая </a:t>
            </a:r>
            <a:r>
              <a:rPr lang="en-US" sz="1400">
                <a:solidFill>
                  <a:schemeClr val="tx1"/>
                </a:solidFill>
              </a:rPr>
              <a:t>N</a:t>
            </a:r>
            <a:r>
              <a:rPr lang="en" sz="1400">
                <a:solidFill>
                  <a:schemeClr val="tx1"/>
                </a:solidFill>
              </a:rPr>
              <a:t>LP-</a:t>
            </a:r>
            <a:r>
              <a:rPr lang="ru-RU" sz="1400">
                <a:solidFill>
                  <a:schemeClr val="tx1"/>
                </a:solidFill>
              </a:rPr>
              <a:t>модель читает производственный план, давая каждому этапу фиксированный </a:t>
            </a:r>
            <a:r>
              <a:rPr lang="en-US" sz="1400">
                <a:solidFill>
                  <a:schemeClr val="tx1"/>
                </a:solidFill>
              </a:rPr>
              <a:t>ID </a:t>
            </a:r>
            <a:r>
              <a:rPr lang="ru-RU" sz="1400">
                <a:solidFill>
                  <a:schemeClr val="tx1"/>
                </a:solidFill>
              </a:rPr>
              <a:t>тег</a:t>
            </a:r>
            <a:endParaRPr lang="en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b="1">
                <a:solidFill>
                  <a:schemeClr val="tx1"/>
                </a:solidFill>
              </a:rPr>
              <a:t>Запрос контекста: </a:t>
            </a:r>
            <a:r>
              <a:rPr lang="en" sz="1400">
                <a:solidFill>
                  <a:schemeClr val="tx1"/>
                </a:solidFill>
              </a:rPr>
              <a:t>Edge-</a:t>
            </a:r>
            <a:r>
              <a:rPr lang="ru-RU" sz="1400">
                <a:solidFill>
                  <a:schemeClr val="tx1"/>
                </a:solidFill>
              </a:rPr>
              <a:t>камера запрашивает у </a:t>
            </a:r>
            <a:r>
              <a:rPr lang="en" sz="1400">
                <a:solidFill>
                  <a:schemeClr val="tx1"/>
                </a:solidFill>
              </a:rPr>
              <a:t>API </a:t>
            </a:r>
            <a:r>
              <a:rPr lang="ru-RU" sz="1400">
                <a:solidFill>
                  <a:schemeClr val="tx1"/>
                </a:solidFill>
              </a:rPr>
              <a:t>активный этап на текущую дату и получает нужный </a:t>
            </a:r>
            <a:r>
              <a:rPr lang="en-US" sz="1400">
                <a:solidFill>
                  <a:schemeClr val="tx1"/>
                </a:solidFill>
              </a:rPr>
              <a:t>ID</a:t>
            </a:r>
            <a:r>
              <a:rPr lang="ru-RU" sz="1400">
                <a:solidFill>
                  <a:schemeClr val="tx1"/>
                </a:solidFill>
              </a:rPr>
              <a:t> тег.</a:t>
            </a:r>
          </a:p>
          <a:p>
            <a:pPr marL="0" indent="0">
              <a:buNone/>
            </a:pPr>
            <a:r>
              <a:rPr lang="ru-RU" sz="1400" b="1">
                <a:solidFill>
                  <a:schemeClr val="tx1"/>
                </a:solidFill>
              </a:rPr>
              <a:t>Математика: </a:t>
            </a:r>
            <a:r>
              <a:rPr lang="ru-RU" sz="1400">
                <a:solidFill>
                  <a:schemeClr val="tx1"/>
                </a:solidFill>
              </a:rPr>
              <a:t>Камера детектирует строительные объекты и определяет </a:t>
            </a:r>
            <a:r>
              <a:rPr lang="en-US" sz="1400">
                <a:solidFill>
                  <a:schemeClr val="tx1"/>
                </a:solidFill>
              </a:rPr>
              <a:t>ID,</a:t>
            </a:r>
            <a:r>
              <a:rPr lang="ru-RU" sz="1400">
                <a:solidFill>
                  <a:schemeClr val="tx1"/>
                </a:solidFill>
              </a:rPr>
              <a:t> после этого </a:t>
            </a:r>
            <a:r>
              <a:rPr lang="en" sz="1400">
                <a:solidFill>
                  <a:schemeClr val="tx1"/>
                </a:solidFill>
              </a:rPr>
              <a:t>backend </a:t>
            </a:r>
            <a:r>
              <a:rPr lang="ru-RU" sz="1400">
                <a:solidFill>
                  <a:schemeClr val="tx1"/>
                </a:solidFill>
              </a:rPr>
              <a:t>в соответствии с этим </a:t>
            </a:r>
            <a:r>
              <a:rPr lang="en-US" sz="1400">
                <a:solidFill>
                  <a:schemeClr val="tx1"/>
                </a:solidFill>
              </a:rPr>
              <a:t>ID </a:t>
            </a:r>
            <a:r>
              <a:rPr lang="ru-RU" sz="1400">
                <a:solidFill>
                  <a:schemeClr val="tx1"/>
                </a:solidFill>
              </a:rPr>
              <a:t>тегом</a:t>
            </a:r>
            <a:r>
              <a:rPr lang="en" sz="1400">
                <a:solidFill>
                  <a:schemeClr val="tx1"/>
                </a:solidFill>
              </a:rPr>
              <a:t> </a:t>
            </a:r>
            <a:r>
              <a:rPr lang="ru-RU" sz="1400">
                <a:solidFill>
                  <a:schemeClr val="tx1"/>
                </a:solidFill>
              </a:rPr>
              <a:t>выбирает соответствующую стратегию вычисления объема</a:t>
            </a:r>
            <a:r>
              <a:rPr lang="en-US" sz="1400">
                <a:solidFill>
                  <a:schemeClr val="tx1"/>
                </a:solidFill>
              </a:rPr>
              <a:t>, </a:t>
            </a:r>
            <a:r>
              <a:rPr lang="ru-RU" sz="1400">
                <a:solidFill>
                  <a:schemeClr val="tx1"/>
                </a:solidFill>
              </a:rPr>
              <a:t>например, если система определила выемку грунта, то выполняемые объемы будут фиксироваться по стратегии 1 самосвал = 25 куб. метров и так далее.</a:t>
            </a:r>
          </a:p>
          <a:p>
            <a:pPr marL="0" indent="0">
              <a:buNone/>
            </a:pPr>
            <a:r>
              <a:rPr lang="ru-RU" sz="1400" b="1">
                <a:solidFill>
                  <a:schemeClr val="tx1"/>
                </a:solidFill>
              </a:rPr>
              <a:t>Отображение</a:t>
            </a:r>
            <a:r>
              <a:rPr lang="en-US" sz="1400" b="1">
                <a:solidFill>
                  <a:schemeClr val="tx1"/>
                </a:solidFill>
              </a:rPr>
              <a:t>: </a:t>
            </a:r>
            <a:r>
              <a:rPr lang="ru-RU" sz="1400">
                <a:solidFill>
                  <a:schemeClr val="tx1"/>
                </a:solidFill>
              </a:rPr>
              <a:t>На основе </a:t>
            </a:r>
            <a:r>
              <a:rPr lang="en-US" sz="1400">
                <a:solidFill>
                  <a:schemeClr val="tx1"/>
                </a:solidFill>
              </a:rPr>
              <a:t>ID </a:t>
            </a:r>
            <a:r>
              <a:rPr lang="ru-RU" sz="1400">
                <a:solidFill>
                  <a:schemeClr val="tx1"/>
                </a:solidFill>
              </a:rPr>
              <a:t>сопоставляется оригинальное название из плана с объемом выполняемых работ</a:t>
            </a:r>
            <a:r>
              <a:rPr lang="en-US" sz="1400">
                <a:solidFill>
                  <a:schemeClr val="tx1"/>
                </a:solidFill>
              </a:rPr>
              <a:t>,</a:t>
            </a:r>
            <a:r>
              <a:rPr lang="ru-RU" sz="1400">
                <a:solidFill>
                  <a:schemeClr val="tx1"/>
                </a:solidFill>
              </a:rPr>
              <a:t> которых зафиксировала камера</a:t>
            </a:r>
            <a:r>
              <a:rPr lang="en-US" sz="1400">
                <a:solidFill>
                  <a:schemeClr val="tx1"/>
                </a:solidFill>
              </a:rPr>
              <a:t>. </a:t>
            </a:r>
            <a:r>
              <a:rPr lang="ru-RU" sz="1400">
                <a:solidFill>
                  <a:schemeClr val="tx1"/>
                </a:solidFill>
              </a:rPr>
              <a:t>Выводится статистика по активным этапам</a:t>
            </a:r>
            <a:r>
              <a:rPr lang="en-US" sz="1400">
                <a:solidFill>
                  <a:schemeClr val="tx1"/>
                </a:solidFill>
              </a:rPr>
              <a:t>, </a:t>
            </a:r>
            <a:r>
              <a:rPr lang="ru-RU" sz="1400">
                <a:solidFill>
                  <a:schemeClr val="tx1"/>
                </a:solidFill>
              </a:rPr>
              <a:t>фиксируются отставания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Как видео связывается с планом?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357495-7DC7-11EF-F0DE-C959A3A2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3429000"/>
            <a:ext cx="9503964" cy="271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5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3392376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4434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Технологическое масштабирование: </a:t>
            </a:r>
            <a:r>
              <a:rPr lang="ru-RU">
                <a:solidFill>
                  <a:schemeClr val="tx1"/>
                </a:solidFill>
              </a:rPr>
              <a:t>Внедрение брокеров сообщений для гарантированной доставки телеметрии при нестабильном интернете на стройке. Перенос тяжелых фоновых задач (генерация видео) в </a:t>
            </a:r>
            <a:r>
              <a:rPr lang="en">
                <a:solidFill>
                  <a:schemeClr val="tx1"/>
                </a:solidFill>
              </a:rPr>
              <a:t>Celery.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Расширение </a:t>
            </a:r>
            <a:r>
              <a:rPr lang="en" b="1">
                <a:solidFill>
                  <a:schemeClr val="tx1"/>
                </a:solidFill>
              </a:rPr>
              <a:t>ML-</a:t>
            </a:r>
            <a:r>
              <a:rPr lang="ru-RU" b="1">
                <a:solidFill>
                  <a:schemeClr val="tx1"/>
                </a:solidFill>
              </a:rPr>
              <a:t>стратегий: </a:t>
            </a:r>
            <a:r>
              <a:rPr lang="ru-RU">
                <a:solidFill>
                  <a:schemeClr val="tx1"/>
                </a:solidFill>
              </a:rPr>
              <a:t>Добавление моделей для контроля ТБ (наличие касок и жилетов), детекции простоя техники, трекинга кранов и подсчета монолитных работ (подача бетона автомиксерами).</a:t>
            </a: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>
                <a:solidFill>
                  <a:schemeClr val="tx1"/>
                </a:solidFill>
              </a:rPr>
              <a:t>Интеграция с </a:t>
            </a:r>
            <a:r>
              <a:rPr lang="en" b="1">
                <a:solidFill>
                  <a:schemeClr val="tx1"/>
                </a:solidFill>
              </a:rPr>
              <a:t>ERP: </a:t>
            </a:r>
            <a:r>
              <a:rPr lang="ru-RU">
                <a:solidFill>
                  <a:schemeClr val="tx1"/>
                </a:solidFill>
              </a:rPr>
              <a:t>Создание плагинов для двустороннего обмена данными с 1</a:t>
            </a:r>
            <a:r>
              <a:rPr lang="en">
                <a:solidFill>
                  <a:schemeClr val="tx1"/>
                </a:solidFill>
              </a:rPr>
              <a:t>C:ERP </a:t>
            </a:r>
            <a:r>
              <a:rPr lang="ru-RU">
                <a:solidFill>
                  <a:schemeClr val="tx1"/>
                </a:solidFill>
              </a:rPr>
              <a:t>Управление строительной организацией, </a:t>
            </a:r>
            <a:r>
              <a:rPr lang="en">
                <a:solidFill>
                  <a:schemeClr val="tx1"/>
                </a:solidFill>
              </a:rPr>
              <a:t>MS Project </a:t>
            </a:r>
            <a:r>
              <a:rPr lang="ru-RU">
                <a:solidFill>
                  <a:schemeClr val="tx1"/>
                </a:solidFill>
              </a:rPr>
              <a:t>и </a:t>
            </a:r>
            <a:r>
              <a:rPr lang="en">
                <a:solidFill>
                  <a:schemeClr val="tx1"/>
                </a:solidFill>
              </a:rPr>
              <a:t>Oracle Primavera.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" b="1">
                <a:solidFill>
                  <a:schemeClr val="tx1"/>
                </a:solidFill>
              </a:rPr>
              <a:t>BIM-</a:t>
            </a:r>
            <a:r>
              <a:rPr lang="ru-RU" b="1">
                <a:solidFill>
                  <a:schemeClr val="tx1"/>
                </a:solidFill>
              </a:rPr>
              <a:t>интеграция: </a:t>
            </a:r>
            <a:r>
              <a:rPr lang="ru-RU">
                <a:solidFill>
                  <a:schemeClr val="tx1"/>
                </a:solidFill>
              </a:rPr>
              <a:t>Наложение прогресса, рассчитанного по камерам, на 3</a:t>
            </a:r>
            <a:r>
              <a:rPr lang="en">
                <a:solidFill>
                  <a:schemeClr val="tx1"/>
                </a:solidFill>
              </a:rPr>
              <a:t>D-</a:t>
            </a:r>
            <a:r>
              <a:rPr lang="ru-RU">
                <a:solidFill>
                  <a:schemeClr val="tx1"/>
                </a:solidFill>
              </a:rPr>
              <a:t>информационную модель здания (4</a:t>
            </a:r>
            <a:r>
              <a:rPr lang="en">
                <a:solidFill>
                  <a:schemeClr val="tx1"/>
                </a:solidFill>
              </a:rPr>
              <a:t>D BIM).</a:t>
            </a: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Масштабирование и развитие</a:t>
            </a:r>
            <a:endParaRPr lang="ru-RU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3392376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4434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Для минимизации ошибок ИИ и качественного сопоставления с графиком:</a:t>
            </a: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b="1">
                <a:solidFill>
                  <a:schemeClr val="tx1"/>
                </a:solidFill>
              </a:rPr>
              <a:t> Высота и угол обзора:</a:t>
            </a:r>
            <a:r>
              <a:rPr lang="ru-RU">
                <a:solidFill>
                  <a:schemeClr val="tx1"/>
                </a:solidFill>
              </a:rPr>
              <a:t> Камеры должны устанавливаться на высоте от 15 до 30 метров (например, на мачтах освещения или стреле башенного крана) с углом наклона 30-45°. Это минимизирует перекрытия</a:t>
            </a:r>
            <a:r>
              <a:rPr lang="en">
                <a:solidFill>
                  <a:schemeClr val="tx1"/>
                </a:solidFill>
              </a:rPr>
              <a:t>, </a:t>
            </a:r>
            <a:r>
              <a:rPr lang="ru-RU">
                <a:solidFill>
                  <a:schemeClr val="tx1"/>
                </a:solidFill>
              </a:rPr>
              <a:t>когда ближний экскаватор загораживает дальний.</a:t>
            </a:r>
          </a:p>
          <a:p>
            <a:pPr>
              <a:buFont typeface="+mj-lt"/>
              <a:buAutoNum type="arabicPeriod"/>
            </a:pPr>
            <a:r>
              <a:rPr lang="ru-RU" b="1">
                <a:solidFill>
                  <a:schemeClr val="tx1"/>
                </a:solidFill>
              </a:rPr>
              <a:t> Перекрестное покрытие:</a:t>
            </a:r>
            <a:r>
              <a:rPr lang="ru-RU">
                <a:solidFill>
                  <a:schemeClr val="tx1"/>
                </a:solidFill>
              </a:rPr>
              <a:t> Для больших котлованов необходимо минимум 2 камеры, установленные с противоположных сторон. Сервер должен объединять треки машин, чтобы избежать двойного счета</a:t>
            </a:r>
            <a:endParaRPr lang="en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b="1">
                <a:solidFill>
                  <a:schemeClr val="tx1"/>
                </a:solidFill>
              </a:rPr>
              <a:t> Стабильность:</a:t>
            </a:r>
            <a:r>
              <a:rPr lang="ru-RU">
                <a:solidFill>
                  <a:schemeClr val="tx1"/>
                </a:solidFill>
              </a:rPr>
              <a:t> Крепление должно быть жестким. Вибрации от ветра ломают алгоритмы межкадрового трекинга</a:t>
            </a:r>
            <a:endParaRPr lang="en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b="1">
                <a:solidFill>
                  <a:schemeClr val="tx1"/>
                </a:solidFill>
              </a:rPr>
              <a:t> Свет и погода:</a:t>
            </a:r>
            <a:r>
              <a:rPr lang="ru-RU">
                <a:solidFill>
                  <a:schemeClr val="tx1"/>
                </a:solidFill>
              </a:rPr>
              <a:t> Использование камер с аппаратным </a:t>
            </a:r>
            <a:r>
              <a:rPr lang="en">
                <a:solidFill>
                  <a:schemeClr val="tx1"/>
                </a:solidFill>
              </a:rPr>
              <a:t>WDR (Wide Dynamic Range) </a:t>
            </a:r>
            <a:r>
              <a:rPr lang="ru-RU">
                <a:solidFill>
                  <a:schemeClr val="tx1"/>
                </a:solidFill>
              </a:rPr>
              <a:t>для компенсации засветов от солнца и мощной ИК-подсветкой для работы в ночные смены. Объективы должны оснащаться козырьками от осадков.</a:t>
            </a: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/>
              <a:t>Рекомендации по установке камер</a:t>
            </a:r>
            <a:endParaRPr lang="ru-RU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11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/>
              <a:t>Прототип</a:t>
            </a:r>
            <a:endParaRPr lang="ru-RU" sz="2800">
              <a:solidFill>
                <a:schemeClr val="bg1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026206C-E026-1CF2-2327-B585DFF01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79" y="1377956"/>
            <a:ext cx="11438442" cy="5160963"/>
          </a:xfrm>
        </p:spPr>
      </p:pic>
    </p:spTree>
    <p:extLst>
      <p:ext uri="{BB962C8B-B14F-4D97-AF65-F5344CB8AC3E}">
        <p14:creationId xmlns:p14="http://schemas.microsoft.com/office/powerpoint/2010/main" val="262296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/>
              <a:t>Активности</a:t>
            </a:r>
            <a:endParaRPr lang="ru-RU" sz="280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13603D-F1F6-590A-9B38-B2668A383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338" y="1561394"/>
            <a:ext cx="7479324" cy="4661502"/>
          </a:xfrm>
        </p:spPr>
      </p:pic>
    </p:spTree>
    <p:extLst>
      <p:ext uri="{BB962C8B-B14F-4D97-AF65-F5344CB8AC3E}">
        <p14:creationId xmlns:p14="http://schemas.microsoft.com/office/powerpoint/2010/main" val="258685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 sz="2800">
                <a:solidFill>
                  <a:schemeClr val="bg1"/>
                </a:solidFill>
              </a:rPr>
              <a:t>Фиксация отставаний</a:t>
            </a:r>
          </a:p>
        </p:txBody>
      </p:sp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C6AAB36A-B6F1-6A02-87BD-89E33B056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2" y="2306234"/>
            <a:ext cx="11560175" cy="3071149"/>
          </a:xfrm>
        </p:spPr>
      </p:pic>
    </p:spTree>
    <p:extLst>
      <p:ext uri="{BB962C8B-B14F-4D97-AF65-F5344CB8AC3E}">
        <p14:creationId xmlns:p14="http://schemas.microsoft.com/office/powerpoint/2010/main" val="81709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/>
              <a:t>График Ганта</a:t>
            </a:r>
            <a:endParaRPr lang="ru-RU" sz="2800">
              <a:solidFill>
                <a:schemeClr val="bg1"/>
              </a:solidFill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6BEA1ED-EEA2-36B3-9CCF-467D7B618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2" y="1391927"/>
            <a:ext cx="11560175" cy="4964430"/>
          </a:xfrm>
        </p:spPr>
      </p:pic>
    </p:spTree>
    <p:extLst>
      <p:ext uri="{BB962C8B-B14F-4D97-AF65-F5344CB8AC3E}">
        <p14:creationId xmlns:p14="http://schemas.microsoft.com/office/powerpoint/2010/main" val="1495125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534520"/>
            <a:ext cx="6819166" cy="552061"/>
          </a:xfrm>
        </p:spPr>
        <p:txBody>
          <a:bodyPr/>
          <a:lstStyle/>
          <a:p>
            <a:pPr>
              <a:defRPr/>
            </a:pPr>
            <a:r>
              <a:rPr lang="ru-RU"/>
              <a:t>Видео-таймлапс за текущий день</a:t>
            </a:r>
            <a:endParaRPr lang="ru-RU" sz="280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FEBF46-703E-2415-6EC0-558990AE7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28" y="1456333"/>
            <a:ext cx="6024413" cy="4675797"/>
          </a:xfrm>
        </p:spPr>
      </p:pic>
    </p:spTree>
    <p:extLst>
      <p:ext uri="{BB962C8B-B14F-4D97-AF65-F5344CB8AC3E}">
        <p14:creationId xmlns:p14="http://schemas.microsoft.com/office/powerpoint/2010/main" val="344291442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1268</TotalTime>
  <Words>1014</Words>
  <Application>Microsoft Macintosh PowerPoint</Application>
  <PresentationFormat>Широкоэкранный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</vt:lpstr>
      <vt:lpstr>TTFirs</vt:lpstr>
      <vt:lpstr>Wingdings</vt:lpstr>
      <vt:lpstr>Для Академия инноваторов 16_9</vt:lpstr>
      <vt:lpstr>Null Pointer</vt:lpstr>
      <vt:lpstr>Команда «Null Pointer»</vt:lpstr>
      <vt:lpstr>Null Pointer</vt:lpstr>
      <vt:lpstr>Null Pointer</vt:lpstr>
      <vt:lpstr>КОРОТКО О РЕШЕНИИ</vt:lpstr>
      <vt:lpstr>Концепция и архитектура</vt:lpstr>
      <vt:lpstr>Стек технологий</vt:lpstr>
      <vt:lpstr>Как видео связывается с планом?</vt:lpstr>
      <vt:lpstr>Масштабирование и развитие</vt:lpstr>
      <vt:lpstr>Рекомендации по установке камер</vt:lpstr>
      <vt:lpstr>Прототип</vt:lpstr>
      <vt:lpstr>Активности</vt:lpstr>
      <vt:lpstr>Фиксация отставаний</vt:lpstr>
      <vt:lpstr>График Ганта</vt:lpstr>
      <vt:lpstr>Видео-таймлапс за текущий день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maxim maxim</cp:lastModifiedBy>
  <cp:revision>110</cp:revision>
  <dcterms:created xsi:type="dcterms:W3CDTF">2023-05-15T07:36:23Z</dcterms:created>
  <dcterms:modified xsi:type="dcterms:W3CDTF">2026-09-29T20:27:00Z</dcterms:modified>
</cp:coreProperties>
</file>